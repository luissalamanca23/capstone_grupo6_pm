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GYMKEEP · PROYECTO APT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84080" y="2286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· FASE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angle_photorealistic_view_of_a_modern_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8">
              <a:alpha val="67000"/>
            </a:srgbClr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A2035">
              <a:alpha val="88000"/>
            </a:srgbClr>
          </a:solidFill>
          <a:ln w="12700">
            <a:solidFill>
              <a:srgbClr val="0A2035">
                <a:alpha val="0"/>
              </a:srgbClr>
            </a:solidFill>
            <a:prstDash val="solid"/>
          </a:ln>
        </p:spPr>
      </p:sp>
      <p:pic>
        <p:nvPicPr>
          <p:cNvPr id="5" name="Image 1" descr="/mnt/data/user-r8VwNGihFlVqvIULxn8OQlR1/896a43bbb9fa47c6a500ab33c71cd804/mnt/data/docx_media/word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12064"/>
            <a:ext cx="2103120" cy="5303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8368" y="1417320"/>
            <a:ext cx="1993392" cy="320040"/>
          </a:xfrm>
          <a:prstGeom prst="roundRect">
            <a:avLst>
              <a:gd name="adj" fmla="val 22857"/>
            </a:avLst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148590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APT · FASE 1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58368" y="1901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GymKeep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658368" y="2633472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inteligente del mantenimiento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equipamiento en gimnasios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658368" y="3913632"/>
            <a:ext cx="914400" cy="0"/>
          </a:xfrm>
          <a:prstGeom prst="line">
            <a:avLst/>
          </a:prstGeom>
          <a:noFill/>
          <a:ln w="50800">
            <a:solidFill>
              <a:srgbClr val="F6B91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0873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ágiles · Medición de uso · Gestión basada en datos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" y="5852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0"/>
                </a:solidFill>
              </a:rPr>
              <a:t>Braihan González  ·  Luis Salamanca  ·  Benjamin Oviedo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58368" y="61722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8D3"/>
                </a:solidFill>
              </a:rPr>
              <a:t>Ingeniería en Informática · Sede Puerto Montt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que aborda GymKeep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Interrupciones operativas, reportes informales y ausencia de datos sobre el uso real del equipamiento.</a:t>
            </a:r>
            <a:endParaRPr lang="en-US" sz="1250" dirty="0"/>
          </a:p>
        </p:txBody>
      </p:sp>
      <p:pic>
        <p:nvPicPr>
          <p:cNvPr id="4" name="Image 0" descr="/mnt/data/a_wide_angle_photorealistic_view_of_a_modern_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16" y="1417320"/>
            <a:ext cx="4709160" cy="4462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6016" y="1417320"/>
            <a:ext cx="4709160" cy="4462272"/>
          </a:xfrm>
          <a:prstGeom prst="roundRect">
            <a:avLst>
              <a:gd name="adj" fmla="val 1639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554480"/>
            <a:ext cx="58704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1792224"/>
            <a:ext cx="475488" cy="475488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19385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17373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8"/>
                </a:solidFill>
              </a:rPr>
              <a:t>Fallas reportadas de forma verbal o informal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21305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A7483"/>
                </a:solidFill>
              </a:rPr>
              <a:t>La información llega tarde o se pierde, alargando la indisponibilidad de las máquinas.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66928" y="2971800"/>
            <a:ext cx="58704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" y="3209544"/>
            <a:ext cx="475488" cy="475488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33558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17320" y="315468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8"/>
                </a:solidFill>
              </a:rPr>
              <a:t>Mantenimiento principalmente reactivo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17320" y="354787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A7483"/>
                </a:solidFill>
              </a:rPr>
              <a:t>Se interviene cuando el equipo ya presenta una falla, en vez de anticipar el desgaste.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66928" y="4389120"/>
            <a:ext cx="58704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" y="4626864"/>
            <a:ext cx="475488" cy="475488"/>
          </a:xfrm>
          <a:prstGeom prst="ellipse">
            <a:avLst/>
          </a:prstGeom>
          <a:solidFill>
            <a:srgbClr val="2D6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773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417320" y="457200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8"/>
                </a:solidFill>
              </a:rPr>
              <a:t>Poca visibilidad para la administración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496519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A7483"/>
                </a:solidFill>
              </a:rPr>
              <a:t>No existe una visión integrada del uso, historial de fallas y costos acumulados por equipo.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315200" y="544068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550926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Población impactada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0" y="5852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2F4F"/>
                </a:solidFill>
              </a:rPr>
              <a:t>Socios · personal técnico/aseo · administración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propuesta: un sistema integrado en tres frentes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GymKeep conecta la detección de incidencias, el uso real del equipamiento y la gestión administrativa.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6072" y="1481328"/>
            <a:ext cx="3264408" cy="4507992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5" name="Image 0" descr="/mnt/data/a_sharp_close_up_realistic_photo_inside_a_mod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9344"/>
            <a:ext cx="3044952" cy="1581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" y="2971800"/>
            <a:ext cx="420624" cy="420624"/>
          </a:xfrm>
          <a:prstGeom prst="ellipse">
            <a:avLst/>
          </a:prstGeom>
          <a:solidFill>
            <a:srgbClr val="F6B9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30906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" y="350215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Reporte rápido por QR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95528" y="420624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A7483"/>
                </a:solidFill>
              </a:rPr>
              <a:t>Socios o personal pueden registrar una falla desde el navegador, sin instalar una aplicación ni crear una cuenta.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4133088" y="1481328"/>
            <a:ext cx="3264408" cy="4507992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1" name="Image 1" descr="/mnt/data/wide_overhead_angled_surveillance_style_view_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609344"/>
            <a:ext cx="3044952" cy="15819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5968" y="2971800"/>
            <a:ext cx="420624" cy="420624"/>
          </a:xfrm>
          <a:prstGeom prst="ellipse">
            <a:avLst/>
          </a:prstGeom>
          <a:solidFill>
            <a:srgbClr val="2D67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15968" y="30906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352544" y="350215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Sistema de visión por computadora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352544" y="420624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A7483"/>
                </a:solidFill>
              </a:rPr>
              <a:t>Analiza video para estimar la ocupación y el tiempo de uso efectivo de las máquinas.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7690104" y="1481328"/>
            <a:ext cx="3264408" cy="4507992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7" name="Image 2" descr="/mnt/data/a_sharp_realistic_photo_of_a_modern_gym_office_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1609344"/>
            <a:ext cx="3044952" cy="158191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872984" y="2971800"/>
            <a:ext cx="420624" cy="420624"/>
          </a:xfrm>
          <a:prstGeom prst="ellipse">
            <a:avLst/>
          </a:prstGeom>
          <a:solidFill>
            <a:srgbClr val="F47A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72984" y="309067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909560" y="350215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Panel de gestión y análisis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909560" y="420624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A7483"/>
                </a:solidFill>
              </a:rPr>
              <a:t>Centraliza órdenes de trabajo, historial de fallas, costos e indicadores para apoyar decisiones de mantenimiento.</a:t>
            </a:r>
            <a:endParaRPr lang="en-US" sz="1120" dirty="0"/>
          </a:p>
        </p:txBody>
      </p:sp>
      <p:sp>
        <p:nvSpPr>
          <p:cNvPr id="22" name="Shape 17"/>
          <p:cNvSpPr/>
          <p:nvPr/>
        </p:nvSpPr>
        <p:spPr>
          <a:xfrm>
            <a:off x="1408176" y="6199632"/>
            <a:ext cx="9326880" cy="365760"/>
          </a:xfrm>
          <a:prstGeom prst="roundRect">
            <a:avLst>
              <a:gd name="adj" fmla="val 20000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591056" y="629107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Valor central: pasar de un mantenimiento “a ciegas” a una gestión preventiva sustentada en información operacional.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funciona GymKeep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flujos se complementan: incidencia operacional y medición de uso.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9961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1472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Flujo de incidencia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8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299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Escaneo QR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Identifica la máquina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176272"/>
            <a:ext cx="411480" cy="347472"/>
          </a:xfrm>
          <a:prstGeom prst="chevron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847088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0299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Reporte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3592" y="237744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registra la incidencia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2176272"/>
            <a:ext cx="411480" cy="347472"/>
          </a:xfrm>
          <a:prstGeom prst="chevron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847088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8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0299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Priorización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82512" y="237744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organiza la orden de trabajo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2176272"/>
            <a:ext cx="411480" cy="347472"/>
          </a:xfrm>
          <a:prstGeom prst="chevron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5128" y="1847088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20299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Seguimiento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71432" y="237744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actualiza el estado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01568"/>
            <a:ext cx="347472" cy="347472"/>
          </a:xfrm>
          <a:prstGeom prst="ellipse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838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7280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Flujo de uso y datos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3822192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2F7FD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00507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Video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4672" y="435254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observa el equipamiento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63240" y="4151376"/>
            <a:ext cx="411480" cy="347472"/>
          </a:xfrm>
          <a:prstGeom prst="chevron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3822192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400507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Medición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593592" y="435254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estima el tiempo de uso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4151376"/>
            <a:ext cx="411480" cy="347472"/>
          </a:xfrm>
          <a:prstGeom prst="chevron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822192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2F7FD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00507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Consolidación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382512" y="435254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agrupan métricas e historial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41080" y="4151376"/>
            <a:ext cx="411480" cy="347472"/>
          </a:xfrm>
          <a:prstGeom prst="chevron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25128" y="3822192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400507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Decisión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171432" y="435254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Se visualizan alertas e indicadores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48840" y="5239512"/>
            <a:ext cx="7882128" cy="850392"/>
          </a:xfrm>
          <a:prstGeom prst="roundRect">
            <a:avLst>
              <a:gd name="adj" fmla="val 8602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546811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Ambos flujos alimentan una visión única del estado, uso y costo de cada activo.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y alcance del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objetivos definen un entregable funcional y demostrable dentro del semestre.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00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B91E"/>
                </a:solidFill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162763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Desarrollar un sistema web y móvil que automatice el reporte de fallas por QR, mida el uso de máquinas mediante visión por computadora y optimice la gestión del mantenimiento operativo en gimnasios.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2761488"/>
            <a:ext cx="31272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944368"/>
            <a:ext cx="420624" cy="420624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06324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16736" y="29260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Gestionar datos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36499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Estructurar activos, usuarios, reportes de fallas y registros de uso.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87368" y="2761488"/>
            <a:ext cx="31272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944368"/>
            <a:ext cx="420624" cy="420624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306324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82312" y="29260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Digitalizar reportes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51960" y="336499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Permitir el registro rápido de incidencias y la gestión de órdenes de trabajo.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52944" y="2761488"/>
            <a:ext cx="31272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17536" y="2944368"/>
            <a:ext cx="420624" cy="420624"/>
          </a:xfrm>
          <a:prstGeom prst="ellipse">
            <a:avLst/>
          </a:prstGeom>
          <a:solidFill>
            <a:srgbClr val="2D6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306324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47888" y="29260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Medir uso 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17536" y="336499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Implementar un módulo de visión por computadora para estimar el tiempo de uso.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4352544"/>
            <a:ext cx="31272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96312" y="4535424"/>
            <a:ext cx="420624" cy="420624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465429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26664" y="45171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Analizar operación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496312" y="49560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Construir un panel con costos, fallas e indicadores del equipamiento.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97296" y="4352544"/>
            <a:ext cx="312724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1888" y="4535424"/>
            <a:ext cx="420624" cy="420624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71032" y="465429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05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92240" y="45171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</a:rPr>
              <a:t>Asegurar calidad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61888" y="49560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A7483"/>
                </a:solidFill>
              </a:rPr>
              <a:t>Ejecutar pruebas que verifiquen funcionamiento, integración y rendimiento.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Competencias del perfil de egreso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integra cuatro competencias de especialidad, superando el mínimo exigido para un Proyecto APT.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5394960" cy="1709928"/>
          </a:xfrm>
          <a:prstGeom prst="roundRect">
            <a:avLst>
              <a:gd name="adj" fmla="val 4278"/>
            </a:avLst>
          </a:prstGeom>
          <a:solidFill>
            <a:srgbClr val="EAF3FF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83664"/>
            <a:ext cx="676656" cy="676656"/>
          </a:xfrm>
          <a:prstGeom prst="ellipse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848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73936" y="18196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Modelos de datos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73936" y="2286000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Diseñar una estructura escalable e íntegra para conectar activos, reportes, métricas de uso y costos.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190488" y="1572768"/>
            <a:ext cx="5394960" cy="1709928"/>
          </a:xfrm>
          <a:prstGeom prst="roundRect">
            <a:avLst>
              <a:gd name="adj" fmla="val 4278"/>
            </a:avLst>
          </a:prstGeom>
          <a:solidFill>
            <a:srgbClr val="FFF7E5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883664"/>
            <a:ext cx="676656" cy="676656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0848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60920" y="18196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Desarrollo de software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0920" y="2286000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Construir e integrar los módulos del sistema, desde el reporte de incidencias hasta la gestión administrativa.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03504" y="3675888"/>
            <a:ext cx="5394960" cy="1709928"/>
          </a:xfrm>
          <a:prstGeom prst="roundRect">
            <a:avLst>
              <a:gd name="adj" fmla="val 4278"/>
            </a:avLst>
          </a:prstGeom>
          <a:solidFill>
            <a:srgbClr val="EDF7E8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986784"/>
            <a:ext cx="676656" cy="676656"/>
          </a:xfrm>
          <a:prstGeom prst="ellipse">
            <a:avLst/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1879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73936" y="3922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Gestión de proyectos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73936" y="4389120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Planificar el trabajo, priorizar actividades y tomar decisiones de alcance durante el semestre.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190488" y="3675888"/>
            <a:ext cx="5394960" cy="1709928"/>
          </a:xfrm>
          <a:prstGeom prst="roundRect">
            <a:avLst>
              <a:gd name="adj" fmla="val 4278"/>
            </a:avLst>
          </a:prstGeom>
          <a:solidFill>
            <a:srgbClr val="FFF0E8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986784"/>
            <a:ext cx="676656" cy="676656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1879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3922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Pruebas y certificación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60920" y="4389120"/>
            <a:ext cx="3794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Diseñar y ejecutar validaciones que permitan comprobar calidad, integración y funcionamiento del producto.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1828800" y="5650992"/>
            <a:ext cx="8549640" cy="566928"/>
          </a:xfrm>
          <a:prstGeom prst="roundRect">
            <a:avLst>
              <a:gd name="adj" fmla="val 12903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583387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La integración de competencias permite abordar el proyecto desde diseño, construcción, gestión y validación.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pauta de evaluación y Guía Estudiante –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y organización del semestre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ágil en ciclos cortos, con 18 semanas distribuidas en tres fases principales.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F4F"/>
                </a:solidFill>
              </a:rPr>
              <a:t>18 semanas académicas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602488" cy="566928"/>
          </a:xfrm>
          <a:prstGeom prst="rect">
            <a:avLst/>
          </a:prstGeom>
          <a:solidFill>
            <a:srgbClr val="EAF5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60856" y="1810512"/>
            <a:ext cx="602488" cy="566928"/>
          </a:xfrm>
          <a:prstGeom prst="rect">
            <a:avLst/>
          </a:prstGeom>
          <a:solidFill>
            <a:srgbClr val="EAF5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0856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63344" y="1810512"/>
            <a:ext cx="602488" cy="566928"/>
          </a:xfrm>
          <a:prstGeom prst="rect">
            <a:avLst/>
          </a:prstGeom>
          <a:solidFill>
            <a:srgbClr val="EAF5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3344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5832" y="1810512"/>
            <a:ext cx="602488" cy="566928"/>
          </a:xfrm>
          <a:prstGeom prst="rect">
            <a:avLst/>
          </a:prstGeom>
          <a:solidFill>
            <a:srgbClr val="EAF5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5832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68320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8320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70808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0808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73296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3296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75784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5784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78272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78272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83248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3248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85736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5736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88224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8224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90712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0712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93200" y="1810512"/>
            <a:ext cx="602488" cy="566928"/>
          </a:xfrm>
          <a:prstGeom prst="rect">
            <a:avLst/>
          </a:prstGeom>
          <a:solidFill>
            <a:srgbClr val="FFF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3200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695688" y="1810512"/>
            <a:ext cx="602488" cy="566928"/>
          </a:xfrm>
          <a:prstGeom prst="rect">
            <a:avLst/>
          </a:prstGeom>
          <a:solidFill>
            <a:srgbClr val="FF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5688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98176" y="1810512"/>
            <a:ext cx="602488" cy="566928"/>
          </a:xfrm>
          <a:prstGeom prst="rect">
            <a:avLst/>
          </a:prstGeom>
          <a:solidFill>
            <a:srgbClr val="FF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98176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900664" y="1810512"/>
            <a:ext cx="602488" cy="566928"/>
          </a:xfrm>
          <a:prstGeom prst="rect">
            <a:avLst/>
          </a:prstGeom>
          <a:solidFill>
            <a:srgbClr val="FF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00664" y="1984248"/>
            <a:ext cx="602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2F4F"/>
                </a:solidFill>
              </a:rPr>
              <a:t>18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" y="2551176"/>
            <a:ext cx="2404872" cy="0"/>
          </a:xfrm>
          <a:prstGeom prst="line">
            <a:avLst/>
          </a:prstGeom>
          <a:noFill/>
          <a:ln w="63500">
            <a:solidFill>
              <a:srgbClr val="68B4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3240" y="2551176"/>
            <a:ext cx="6629400" cy="0"/>
          </a:xfrm>
          <a:prstGeom prst="line">
            <a:avLst/>
          </a:prstGeom>
          <a:noFill/>
          <a:ln w="63500">
            <a:solidFill>
              <a:srgbClr val="F6B91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92640" y="2551176"/>
            <a:ext cx="1810512" cy="0"/>
          </a:xfrm>
          <a:prstGeom prst="line">
            <a:avLst/>
          </a:prstGeom>
          <a:noFill/>
          <a:ln w="63500">
            <a:solidFill>
              <a:srgbClr val="F47A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" y="2898648"/>
            <a:ext cx="3200400" cy="2130552"/>
          </a:xfrm>
          <a:prstGeom prst="roundRect">
            <a:avLst>
              <a:gd name="adj" fmla="val 3433"/>
            </a:avLst>
          </a:prstGeom>
          <a:solidFill>
            <a:srgbClr val="F3F9F0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" y="3108960"/>
            <a:ext cx="2798064" cy="320040"/>
          </a:xfrm>
          <a:prstGeom prst="roundRect">
            <a:avLst>
              <a:gd name="adj" fmla="val 22857"/>
            </a:avLst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31775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 · Sem. 1–4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59536" y="359359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Definición y diseño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59536" y="409651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A7483"/>
                </a:solidFill>
              </a:rPr>
              <a:t>Problema, requisitos, alcance, arquitectura conceptual y planificación.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60520" y="2898648"/>
            <a:ext cx="3840480" cy="2130552"/>
          </a:xfrm>
          <a:prstGeom prst="roundRect">
            <a:avLst>
              <a:gd name="adj" fmla="val 3433"/>
            </a:avLst>
          </a:prstGeom>
          <a:solidFill>
            <a:srgbClr val="FFF9E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61688" y="3108960"/>
            <a:ext cx="3438144" cy="320040"/>
          </a:xfrm>
          <a:prstGeom prst="roundRect">
            <a:avLst>
              <a:gd name="adj" fmla="val 22857"/>
            </a:avLst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31775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Sem. 5–15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61688" y="359359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Construcción e integración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361688" y="4096512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A7483"/>
                </a:solidFill>
              </a:rPr>
              <a:t>Desarrollo de módulos, medición de uso, gestión de incidencias y consolidación de indicadores.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02752" y="2898648"/>
            <a:ext cx="3227832" cy="2130552"/>
          </a:xfrm>
          <a:prstGeom prst="roundRect">
            <a:avLst>
              <a:gd name="adj" fmla="val 3433"/>
            </a:avLst>
          </a:prstGeom>
          <a:solidFill>
            <a:srgbClr val="FFF4EE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03920" y="3108960"/>
            <a:ext cx="2825496" cy="320040"/>
          </a:xfrm>
          <a:prstGeom prst="roundRect">
            <a:avLst>
              <a:gd name="adj" fmla="val 22857"/>
            </a:avLst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77072" y="3177540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Sem. 16–18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503920" y="3593592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Validación y cierre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503920" y="4096512"/>
            <a:ext cx="2825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A7483"/>
                </a:solidFill>
              </a:rPr>
              <a:t>Pruebas, correcciones, documentación, demostración y presentación final.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325880" y="5321808"/>
            <a:ext cx="95371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54480" y="55321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Modalidad de trabajo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127248" y="5486400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8"/>
                </a:solidFill>
              </a:rPr>
              <a:t>Equipo de 3 integrantes · trabajo colaborativo · participación conjunta en las actividades del proyecto.</a:t>
            </a:r>
            <a:endParaRPr lang="en-US" sz="1220" dirty="0"/>
          </a:p>
        </p:txBody>
      </p:sp>
      <p:sp>
        <p:nvSpPr>
          <p:cNvPr id="62" name="Text 60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que demostrarán el avance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evidencia permite verificar qué se diseñó, construyó, probó y entregó.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91440" cy="1700784"/>
          </a:xfrm>
          <a:prstGeom prst="rect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01368"/>
            <a:ext cx="585216" cy="585216"/>
          </a:xfrm>
          <a:prstGeom prst="ellipse">
            <a:avLst/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842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62272" y="1737360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2D67B2"/>
          </a:solidFill>
          <a:ln w="12700">
            <a:solidFill>
              <a:srgbClr val="2D67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8059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19072" y="177393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Requisitos y diseño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19072" y="22494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Especificación de requisitos, historias de usuario, arquitectura y modelo de datos.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245352" y="153619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536192"/>
            <a:ext cx="91440" cy="1700784"/>
          </a:xfrm>
          <a:prstGeom prst="rect">
            <a:avLst/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801368"/>
            <a:ext cx="585216" cy="585216"/>
          </a:xfrm>
          <a:prstGeom prst="ellipse">
            <a:avLst/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9842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67544" y="1737360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F6B91E"/>
          </a:solidFill>
          <a:ln w="12700">
            <a:solidFill>
              <a:srgbClr val="F6B9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0696" y="18059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2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24344" y="177393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Construcción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24344" y="22494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Repositorio de trabajo con el desarrollo e integración de los componentes del sistema.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85032"/>
            <a:ext cx="91440" cy="1700784"/>
          </a:xfrm>
          <a:prstGeom prst="rect">
            <a:avLst/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950208"/>
            <a:ext cx="585216" cy="585216"/>
          </a:xfrm>
          <a:prstGeom prst="ellipse">
            <a:avLst/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413308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3886200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395478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19072" y="392277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Calidad y pruebas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719072" y="43982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Plan de pruebas, casos ejecutados, resultados y trazabilidad entre requisitos y validación.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245352" y="3685032"/>
            <a:ext cx="530352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5352" y="3685032"/>
            <a:ext cx="91440" cy="1700784"/>
          </a:xfrm>
          <a:prstGeom prst="rect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3950208"/>
            <a:ext cx="585216" cy="585216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413308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67544" y="3886200"/>
            <a:ext cx="1024128" cy="320040"/>
          </a:xfrm>
          <a:prstGeom prst="roundRect">
            <a:avLst>
              <a:gd name="adj" fmla="val 22857"/>
            </a:avLst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0696" y="395478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24344" y="392277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</a:rPr>
              <a:t>Despliegue y operación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324344" y="43982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A7483"/>
                </a:solidFill>
              </a:rPr>
              <a:t>Sistema funcional, documentación de uso y material necesario para su operación y mantenimiento.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1828800" y="5669280"/>
            <a:ext cx="8549640" cy="512064"/>
          </a:xfrm>
          <a:prstGeom prst="roundRect">
            <a:avLst>
              <a:gd name="adj" fmla="val 14286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5833872"/>
            <a:ext cx="8028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</a:rPr>
              <a:t>La evidencia final debe mostrar un producto estable, verificable y entendible para terceros.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trabajo: Carta Gantt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planificación desglosa las actividades a lo largo de las 18 semanas y mantiene la temporalidad de las tres fases.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486460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5" name="Image 0" descr="/mnt/data/user-r8VwNGihFlVqvIULxn8OQlR1/896a43bbb9fa47c6a500ab33c71cd804/mnt/data/docx_media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7048"/>
            <a:ext cx="10954512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619963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DDEED6"/>
          </a:solidFill>
          <a:ln w="12700">
            <a:solidFill>
              <a:srgbClr val="DDEE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626821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8B4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29968" y="619963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F1C7"/>
          </a:solidFill>
          <a:ln w="12700">
            <a:solidFill>
              <a:srgbClr val="FFF1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0" y="626821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4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45536" y="619963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FE2D3"/>
          </a:solidFill>
          <a:ln w="12700">
            <a:solidFill>
              <a:srgbClr val="FFE2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18688" y="626821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89120" y="625449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3"/>
                </a:solidFill>
              </a:rPr>
              <a:t>Actividades superpuestas para permitir trabajo paralelo del equipo.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350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F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Factibilidad e impacto esperado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4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alcance se diseñó para ser demostrable con los recursos disponibles y dentro del semestre.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09928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7B2"/>
                </a:solidFill>
              </a:rPr>
              <a:t>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764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F4F"/>
                </a:solidFill>
              </a:rPr>
              <a:t>semanas académicas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5727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709928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B91E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56432" y="1764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F4F"/>
                </a:solidFill>
              </a:rPr>
              <a:t>integrantes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28032" y="15727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709928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8B442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41264" y="1764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F4F"/>
                </a:solidFill>
              </a:rPr>
              <a:t>competencias integradas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12864" y="15727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1709928"/>
            <a:ext cx="612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A28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626096" y="1764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2F4F"/>
                </a:solidFill>
              </a:rPr>
              <a:t>fases de trabajo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97696" y="1572768"/>
            <a:ext cx="2542032" cy="1115568"/>
          </a:xfrm>
          <a:prstGeom prst="roundRect">
            <a:avLst>
              <a:gd name="adj" fmla="val 655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8864" y="174650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B91E"/>
                </a:solidFill>
              </a:rPr>
              <a:t>POC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966960" y="17556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visión por computadora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072384"/>
            <a:ext cx="347472" cy="347472"/>
          </a:xfrm>
          <a:prstGeom prst="ellipse">
            <a:avLst/>
          </a:prstGeom>
          <a:solidFill>
            <a:srgbClr val="68B442"/>
          </a:solidFill>
          <a:ln w="12700">
            <a:solidFill>
              <a:srgbClr val="68B4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15468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" y="3127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Factores que facilitan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502152"/>
            <a:ext cx="5358384" cy="1508760"/>
          </a:xfrm>
          <a:prstGeom prst="roundRect">
            <a:avLst>
              <a:gd name="adj" fmla="val 4848"/>
            </a:avLst>
          </a:prstGeom>
          <a:solidFill>
            <a:srgbClr val="F3F9F0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307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E2938"/>
                </a:solidFill>
              </a:rPr>
              <a:t>• Recursos computacionales disponibles para desarrollo y pruebas.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E2938"/>
                </a:solidFill>
              </a:rPr>
              <a:t>• Componentes de software y modelos existentes que reducen trabajo desde cero.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E2938"/>
                </a:solidFill>
              </a:rPr>
              <a:t>• División colaborativa de actividades entre los tres integrantes.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236208" y="3072384"/>
            <a:ext cx="347472" cy="347472"/>
          </a:xfrm>
          <a:prstGeom prst="ellipse">
            <a:avLst/>
          </a:prstGeom>
          <a:solidFill>
            <a:srgbClr val="F47A28"/>
          </a:solidFill>
          <a:ln w="12700">
            <a:solidFill>
              <a:srgbClr val="F47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15468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93408" y="3127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F4F"/>
                </a:solidFill>
              </a:rPr>
              <a:t>Riesgo y mitigación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6208" y="3502152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4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730752"/>
            <a:ext cx="4773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938"/>
                </a:solidFill>
              </a:rPr>
              <a:t>Riesgo principal: no disponer de una instalación real con cámaras durante el semestre.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E2938"/>
                </a:solidFill>
              </a:rPr>
              <a:t>Mitigación: validar el módulo mediante videos pregrabados y escenarios simulados.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1353312" y="5340096"/>
            <a:ext cx="9464040" cy="859536"/>
          </a:xfrm>
          <a:prstGeom prst="roundRect">
            <a:avLst>
              <a:gd name="adj" fmla="val 8511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27632" y="55869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B91E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27248" y="5504688"/>
            <a:ext cx="7251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Un sistema que reduzca la fricción para reportar fallas y entregue información útil para una gestión de mantenimiento más oportuna.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98A5"/>
                </a:solidFill>
              </a:rPr>
              <a:t>Fuente: Guía Estudiante – Definición Proyecto APT, Fase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1052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4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GymKeep - Proyecto APT</dc:title>
  <dc:subject>Presentación Proyecto APT GymKeep - Fase 1</dc:subject>
  <dc:creator>OpenAI</dc:creator>
  <cp:lastModifiedBy>OpenAI</cp:lastModifiedBy>
  <cp:revision>1</cp:revision>
  <dcterms:created xsi:type="dcterms:W3CDTF">2026-08-26T02:11:06Z</dcterms:created>
  <dcterms:modified xsi:type="dcterms:W3CDTF">2026-08-26T02:11:06Z</dcterms:modified>
</cp:coreProperties>
</file>