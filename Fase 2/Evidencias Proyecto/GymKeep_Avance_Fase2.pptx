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+mn-lt"/>
              </a:rPr>
              <a:t>Pruebas automáticas por área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Pruebas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Incidencias y QR</c:v>
                  </c:pt>
                  <c:pt idx="1">
                    <c:v>Equipos y eliminación</c:v>
                  </c:pt>
                  <c:pt idx="2">
                    <c:v>API y seguridad de visión</c:v>
                  </c:pt>
                  <c:pt idx="3">
                    <c:v>Sesiones y estadísticas</c:v>
                  </c:pt>
                  <c:pt idx="4">
                    <c:v>Módulo de visión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21</c:v>
                </c:pt>
                <c:pt idx="2">
                  <c:v>38</c:v>
                </c:pt>
                <c:pt idx="3">
                  <c:v>20</c:v>
                </c:pt>
                <c:pt idx="4">
                  <c:v>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el avance de GymKeep a las semanas 10 a 12 del semestre: qué problema resolvemos, qué está construido, qué falta y cómo lo vamos a cerrar en la Fase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es que el mantenimiento es reactivo e informal. GymKeep ataca eso con tres piezas: reporte por QR sin fricción, medición de uso con visión por computadora y un panel con dashboard para decidir.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las piezas hablan con una API en FastAPI. PostgreSQL guarda lo relacional y MongoDB los eventos de IA con expiración automática. Todo se levanta con Docker Compose.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OE1 está cumplido. OE2, OE3 y OE4 están implementados y funcionales con afinamientos pendientes. OE5 está parcial: hay pruebas automáticas, pero falta el plan formal bajo norma ISO.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portal /reportar/:token es público y no pide cuenta. Para evitar reportes falsos se agregó límite de tasa y PIN en las operaciones sensibles.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umbrales son configurables y vienen del estudio del modelo de mantenimiento. Los datos del dashboard son sintéticos: un historial de 2 años y 8 meses generado con un script reproducible.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YOLO26 detecta personas, ByteTrack las sigue y una máquina de estados con T_on de 30 s y T_off de 90 s abre y cierra las sesiones. El tiempo se mide con el reloj, no contando cuadros. Hoy está validado con video grabado.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Hay 97 pruebas de backend con pytest sobre SQLite en memoria y 81 del módulo de visión. Falta el plan formal de calidad bajo norma ISO y las pruebas de carga.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las actividades se hacen en equipo. Ninguna se eliminó. Los ajustes principales: validar visión con video grabado, usar datos sintéticos y reforzar la seguridad del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Fase 3 cerramos QA bajo norma ISO, el despliegue y la validación de la visión. El riesgo principal es no contar con un gimnasio real: lo mitigamos declarando los datos como sintéticos y comparando con un conteo manual.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GymKeep · Capstone Grupo 6 · Duoc UC Puerto Montt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AVANCE · FASE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GymKeep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inteligente del mantenimiento de equipamiento de gimnasios</a:t>
            </a:r>
            <a:endParaRPr lang="en-US" sz="2000" dirty="0"/>
          </a:p>
        </p:txBody>
      </p:sp>
      <p:sp>
        <p:nvSpPr>
          <p:cNvPr id="5" name="Chip Semanas 10 a 12 · en construcción"/>
          <p:cNvSpPr/>
          <p:nvPr/>
        </p:nvSpPr>
        <p:spPr>
          <a:xfrm>
            <a:off x="548640" y="3017520"/>
            <a:ext cx="2651760" cy="256032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017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10 a 12 · en construcción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77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Braihan González · Luis Salamanca · Benjamín Oviedo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97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Grupo 6 · Duoc UC, sede Puerto Montt · Octubre 2026</a:t>
            </a:r>
            <a:endParaRPr lang="en-US" sz="1200" dirty="0"/>
          </a:p>
        </p:txBody>
      </p:sp>
      <p:sp>
        <p:nvSpPr>
          <p:cNvPr id="9" name="Marco logo"/>
          <p:cNvSpPr/>
          <p:nvPr/>
        </p:nvSpPr>
        <p:spPr>
          <a:xfrm>
            <a:off x="6035040" y="914400"/>
            <a:ext cx="2651760" cy="2240280"/>
          </a:xfrm>
          <a:prstGeom prst="roundRect">
            <a:avLst>
              <a:gd name="adj" fmla="val 489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0" name="Logo GymKeep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005840"/>
            <a:ext cx="2377440" cy="19448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gimnasio hoy repara cuando ya es tarde</a:t>
            </a:r>
            <a:endParaRPr lang="en-US" sz="3000" dirty="0"/>
          </a:p>
        </p:txBody>
      </p:sp>
      <p:sp>
        <p:nvSpPr>
          <p:cNvPr id="3" name="Panel problema"/>
          <p:cNvSpPr/>
          <p:nvPr/>
        </p:nvSpPr>
        <p:spPr>
          <a:xfrm>
            <a:off x="457200" y="1188720"/>
            <a:ext cx="3840480" cy="2926080"/>
          </a:xfrm>
          <a:prstGeom prst="rect">
            <a:avLst/>
          </a:prstGeom>
          <a:solidFill>
            <a:schemeClr val="bg2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fallas se avisan de palabra o por mensajes sueltos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historial por máquina ni costos de mantención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sabe cuánto se usa realmente cada equipo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o renovar se decide por intuición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188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Nuestra propuesta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0" y="1645920"/>
            <a:ext cx="640080" cy="640080"/>
          </a:xfrm>
          <a:prstGeom prst="ellipse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2020" y="18059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394960" y="16276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por código QR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19568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socio reporta desde su celular, sin crear cuenta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0" y="2606040"/>
            <a:ext cx="640080" cy="640080"/>
          </a:xfrm>
          <a:prstGeom prst="ellipse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27660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94960" y="25877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por computadora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5394960" y="291693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el uso real de cada máquina desde video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572000" y="3566160"/>
            <a:ext cx="640080" cy="640080"/>
          </a:xfrm>
          <a:prstGeom prst="ellipse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020" y="37261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94960" y="35478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y dashboard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394960" y="38770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Costos, estado y qué máquinas ampliar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API central conecta todas las piezas</a:t>
            </a:r>
            <a:endParaRPr lang="en-US" sz="3000" dirty="0"/>
          </a:p>
        </p:txBody>
      </p:sp>
      <p:pic>
        <p:nvPicPr>
          <p:cNvPr id="3" name="Diagrama de arquitectura" descr="fig1_arquitec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572000" cy="30390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0" y="1188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SQLAlchemy 2.0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0" y="1828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y MongoDB 7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2468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Vite y Tailwind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0" y="3108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48640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 + ByteTrack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486400" y="3749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206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Accesos protegidos con PIN, clave de pipeline y límite de tasa en el portal público.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Avance por objetivo específico</a:t>
            </a:r>
            <a:endParaRPr lang="en-US" sz="3000" dirty="0"/>
          </a:p>
        </p:txBody>
      </p:sp>
      <p:sp>
        <p:nvSpPr>
          <p:cNvPr id="3" name="OE1 fila"/>
          <p:cNvSpPr/>
          <p:nvPr/>
        </p:nvSpPr>
        <p:spPr>
          <a:xfrm>
            <a:off x="457200" y="1097280"/>
            <a:ext cx="8229600" cy="585216"/>
          </a:xfrm>
          <a:prstGeom prst="rect">
            <a:avLst/>
          </a:prstGeom>
          <a:solidFill>
            <a:schemeClr val="bg2"/>
          </a:solidFill>
          <a:ln w="6350">
            <a:solidFill>
              <a:srgbClr val="D5DC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548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1338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relacional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990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tablas, vistas y triggers en PostgreSQL; MongoDB con expiración</a:t>
            </a:r>
            <a:endParaRPr lang="en-US" sz="1200" dirty="0"/>
          </a:p>
        </p:txBody>
      </p:sp>
      <p:sp>
        <p:nvSpPr>
          <p:cNvPr id="7" name="Chip Cumplido"/>
          <p:cNvSpPr/>
          <p:nvPr/>
        </p:nvSpPr>
        <p:spPr>
          <a:xfrm>
            <a:off x="6400800" y="1261872"/>
            <a:ext cx="2148840" cy="256032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2618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Cumplido</a:t>
            </a:r>
            <a:endParaRPr lang="en-US" sz="1100" dirty="0"/>
          </a:p>
        </p:txBody>
      </p:sp>
      <p:sp>
        <p:nvSpPr>
          <p:cNvPr id="9" name="OE2 fila"/>
          <p:cNvSpPr/>
          <p:nvPr/>
        </p:nvSpPr>
        <p:spPr>
          <a:xfrm>
            <a:off x="457200" y="1773936"/>
            <a:ext cx="8229600" cy="585216"/>
          </a:xfrm>
          <a:prstGeom prst="rect">
            <a:avLst/>
          </a:prstGeom>
          <a:solidFill>
            <a:schemeClr val="bg1"/>
          </a:solidFill>
          <a:ln w="6350">
            <a:solidFill>
              <a:srgbClr val="D5DC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773936"/>
            <a:ext cx="548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810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web y panel administrativo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0756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12 routers, portal QR y panel con 7 secciones</a:t>
            </a:r>
            <a:endParaRPr lang="en-US" sz="1200" dirty="0"/>
          </a:p>
        </p:txBody>
      </p:sp>
      <p:sp>
        <p:nvSpPr>
          <p:cNvPr id="13" name="Chip En curso · funcional"/>
          <p:cNvSpPr/>
          <p:nvPr/>
        </p:nvSpPr>
        <p:spPr>
          <a:xfrm>
            <a:off x="6400800" y="1938528"/>
            <a:ext cx="2148840" cy="256032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19385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 · funcional</a:t>
            </a:r>
            <a:endParaRPr lang="en-US" sz="1100" dirty="0"/>
          </a:p>
        </p:txBody>
      </p:sp>
      <p:sp>
        <p:nvSpPr>
          <p:cNvPr id="15" name="OE3 fila"/>
          <p:cNvSpPr/>
          <p:nvPr/>
        </p:nvSpPr>
        <p:spPr>
          <a:xfrm>
            <a:off x="457200" y="2450592"/>
            <a:ext cx="8229600" cy="585216"/>
          </a:xfrm>
          <a:prstGeom prst="rect">
            <a:avLst/>
          </a:prstGeom>
          <a:solidFill>
            <a:schemeClr val="bg2"/>
          </a:solidFill>
          <a:ln w="6350">
            <a:solidFill>
              <a:srgbClr val="D5DC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450592"/>
            <a:ext cx="548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por computadora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7523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y horómetro con video grabado (prueba de concepto)</a:t>
            </a:r>
            <a:endParaRPr lang="en-US" sz="1200" dirty="0"/>
          </a:p>
        </p:txBody>
      </p:sp>
      <p:sp>
        <p:nvSpPr>
          <p:cNvPr id="19" name="Chip En curso · POC"/>
          <p:cNvSpPr/>
          <p:nvPr/>
        </p:nvSpPr>
        <p:spPr>
          <a:xfrm>
            <a:off x="6400800" y="2615184"/>
            <a:ext cx="2148840" cy="256032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26151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 · POC</a:t>
            </a:r>
            <a:endParaRPr lang="en-US" sz="1100" dirty="0"/>
          </a:p>
        </p:txBody>
      </p:sp>
      <p:sp>
        <p:nvSpPr>
          <p:cNvPr id="21" name="OE4 fila"/>
          <p:cNvSpPr/>
          <p:nvPr/>
        </p:nvSpPr>
        <p:spPr>
          <a:xfrm>
            <a:off x="457200" y="3127248"/>
            <a:ext cx="8229600" cy="585216"/>
          </a:xfrm>
          <a:prstGeom prst="rect">
            <a:avLst/>
          </a:prstGeom>
          <a:solidFill>
            <a:schemeClr val="bg1"/>
          </a:solidFill>
          <a:ln w="6350">
            <a:solidFill>
              <a:srgbClr val="D5DC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127248"/>
            <a:ext cx="548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1638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analítico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34290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recomendada, costos, marcas y demanda de máquinas</a:t>
            </a:r>
            <a:endParaRPr lang="en-US" sz="1200" dirty="0"/>
          </a:p>
        </p:txBody>
      </p:sp>
      <p:sp>
        <p:nvSpPr>
          <p:cNvPr id="25" name="Chip En curso · funcional"/>
          <p:cNvSpPr/>
          <p:nvPr/>
        </p:nvSpPr>
        <p:spPr>
          <a:xfrm>
            <a:off x="6400800" y="3291840"/>
            <a:ext cx="2148840" cy="256032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32918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 · funcional</a:t>
            </a:r>
            <a:endParaRPr lang="en-US" sz="1100" dirty="0"/>
          </a:p>
        </p:txBody>
      </p:sp>
      <p:sp>
        <p:nvSpPr>
          <p:cNvPr id="27" name="OE5 fila"/>
          <p:cNvSpPr/>
          <p:nvPr/>
        </p:nvSpPr>
        <p:spPr>
          <a:xfrm>
            <a:off x="457200" y="3803904"/>
            <a:ext cx="8229600" cy="585216"/>
          </a:xfrm>
          <a:prstGeom prst="rect">
            <a:avLst/>
          </a:prstGeom>
          <a:solidFill>
            <a:schemeClr val="bg2"/>
          </a:solidFill>
          <a:ln w="6350">
            <a:solidFill>
              <a:srgbClr val="D5DC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" y="3803904"/>
            <a:ext cx="548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OE5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calidad ISO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188720" y="410565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 pruebas automáticas; plan formal y matriz en Fase 3</a:t>
            </a:r>
            <a:endParaRPr lang="en-US" sz="1200" dirty="0"/>
          </a:p>
        </p:txBody>
      </p:sp>
      <p:sp>
        <p:nvSpPr>
          <p:cNvPr id="31" name="Chip Parcial"/>
          <p:cNvSpPr/>
          <p:nvPr/>
        </p:nvSpPr>
        <p:spPr>
          <a:xfrm>
            <a:off x="6400800" y="3968496"/>
            <a:ext cx="2148840" cy="256032"/>
          </a:xfrm>
          <a:prstGeom prst="roundRect">
            <a:avLst>
              <a:gd name="adj" fmla="val 50000"/>
            </a:avLst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0" y="396849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Reportar una falla toma segundos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731520" cy="731520"/>
          </a:xfrm>
          <a:prstGeom prst="ellipse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514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socio lee el QR pegado en la máquina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874520" y="1508760"/>
            <a:ext cx="457200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560320" y="1280160"/>
            <a:ext cx="731520" cy="731520"/>
          </a:xfrm>
          <a:prstGeom prst="ellipse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4630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56032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2560320" y="2514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el tipo de falla en una encuesta corta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977640" y="1508760"/>
            <a:ext cx="457200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663440" y="1280160"/>
            <a:ext cx="731520" cy="731520"/>
          </a:xfrm>
          <a:prstGeom prst="ellipse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6304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66344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la incidencia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4663440" y="2514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asociada al equipo, sin cuenta ni login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080760" y="1508760"/>
            <a:ext cx="457200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766560" y="1280160"/>
            <a:ext cx="731520" cy="731520"/>
          </a:xfrm>
          <a:prstGeom prst="ellipse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46304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76656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admin la gestiona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6766560" y="2514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Prioriza, registra el mantenimiento y su costo</a:t>
            </a:r>
            <a:endParaRPr lang="en-US" sz="1400" dirty="0"/>
          </a:p>
        </p:txBody>
      </p:sp>
      <p:sp>
        <p:nvSpPr>
          <p:cNvPr id="22" name="Franja seguridad"/>
          <p:cNvSpPr/>
          <p:nvPr/>
        </p:nvSpPr>
        <p:spPr>
          <a:xfrm>
            <a:off x="457200" y="3520440"/>
            <a:ext cx="82296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94360" y="3657600"/>
            <a:ext cx="594360" cy="59436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794760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371600" y="3639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Protegido contra abuso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1371600" y="39319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 tasa en el formulario público y PIN en las operaciones sensibles del panel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dashboard dice qué atender y qué ampliar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recomendada: un equipo aparece cuando…</a:t>
            </a:r>
            <a:endParaRPr lang="en-US" sz="1500" dirty="0"/>
          </a:p>
        </p:txBody>
      </p:sp>
      <p:sp>
        <p:nvSpPr>
          <p:cNvPr id="4" name="Tarjeta 48 h"/>
          <p:cNvSpPr/>
          <p:nvPr/>
        </p:nvSpPr>
        <p:spPr>
          <a:xfrm>
            <a:off x="457200" y="1463040"/>
            <a:ext cx="265176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h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 sin atender una incidencia abierta</a:t>
            </a:r>
            <a:endParaRPr lang="en-US" sz="1400" dirty="0"/>
          </a:p>
        </p:txBody>
      </p:sp>
      <p:sp>
        <p:nvSpPr>
          <p:cNvPr id="7" name="Tarjeta 3"/>
          <p:cNvSpPr/>
          <p:nvPr/>
        </p:nvSpPr>
        <p:spPr>
          <a:xfrm>
            <a:off x="3246120" y="1463040"/>
            <a:ext cx="265176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554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incidencias o más en los últimos 30 días</a:t>
            </a:r>
            <a:endParaRPr lang="en-US" sz="1400" dirty="0"/>
          </a:p>
        </p:txBody>
      </p:sp>
      <p:sp>
        <p:nvSpPr>
          <p:cNvPr id="10" name="Tarjeta 200 h"/>
          <p:cNvSpPr/>
          <p:nvPr/>
        </p:nvSpPr>
        <p:spPr>
          <a:xfrm>
            <a:off x="6035040" y="1463040"/>
            <a:ext cx="265176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554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h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uso desde su última mantención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108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de máquinas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4290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las horas de uso con el promedio para sugerir qué máquinas sumar si el dueño amplía o abre otro local.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108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y marcas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34290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de mantención por categoría y marca para decidir entre reparar o reemplazar.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cámara mide el uso real de cada máquina</a:t>
            </a:r>
            <a:endParaRPr lang="en-US" sz="3000" dirty="0"/>
          </a:p>
        </p:txBody>
      </p:sp>
      <p:pic>
        <p:nvPicPr>
          <p:cNvPr id="3" name="Flujo de visión" descr="fig3_vi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120640" cy="2657100"/>
          </a:xfrm>
          <a:prstGeom prst="rect">
            <a:avLst/>
          </a:prstGeom>
        </p:spPr>
      </p:pic>
      <p:sp>
        <p:nvSpPr>
          <p:cNvPr id="4" name="Tarjeta 30 s"/>
          <p:cNvSpPr/>
          <p:nvPr/>
        </p:nvSpPr>
        <p:spPr>
          <a:xfrm>
            <a:off x="6035040" y="1143000"/>
            <a:ext cx="2651760" cy="960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0" y="118872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406640" y="118872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presencia abre una sesión</a:t>
            </a:r>
            <a:endParaRPr lang="en-US" sz="1200" dirty="0"/>
          </a:p>
        </p:txBody>
      </p:sp>
      <p:sp>
        <p:nvSpPr>
          <p:cNvPr id="7" name="Tarjeta 90 s"/>
          <p:cNvSpPr/>
          <p:nvPr/>
        </p:nvSpPr>
        <p:spPr>
          <a:xfrm>
            <a:off x="6035040" y="2240280"/>
            <a:ext cx="2651760" cy="960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0" y="228600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s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406640" y="228600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ausencia la cierra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886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Rostros difuminados por privacidad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liviano para Raspberry Pi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en vivo con zonas dibujadas</a:t>
            </a:r>
            <a:endParaRPr lang="en-US" sz="1400" dirty="0"/>
          </a:p>
        </p:txBody>
      </p:sp>
      <p:sp>
        <p:nvSpPr>
          <p:cNvPr id="11" name="Chip Validado con video grabado"/>
          <p:cNvSpPr/>
          <p:nvPr/>
        </p:nvSpPr>
        <p:spPr>
          <a:xfrm>
            <a:off x="6035040" y="3520440"/>
            <a:ext cx="2651760" cy="256032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35040" y="35204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 con video grabado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035040" y="3886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Aún sin cámara instalada en un gimnasio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construido está respaldado por pruebas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178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057400" y="11430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automatizadas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659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057400" y="19659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en PostgreSQL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889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27889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REST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80+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36118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desde el 17-08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206240" y="1097280"/>
          <a:ext cx="44805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trabajo: 8 actividades, 2 completadas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Requerimientos y stack</a:t>
            </a:r>
            <a:endParaRPr lang="en-US" sz="1400" dirty="0"/>
          </a:p>
        </p:txBody>
      </p:sp>
      <p:sp>
        <p:nvSpPr>
          <p:cNvPr id="4" name="Chip Completado"/>
          <p:cNvSpPr/>
          <p:nvPr/>
        </p:nvSpPr>
        <p:spPr>
          <a:xfrm>
            <a:off x="3108960" y="1179576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108960" y="117957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6362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Base de datos</a:t>
            </a:r>
            <a:endParaRPr lang="en-US" sz="1400" dirty="0"/>
          </a:p>
        </p:txBody>
      </p:sp>
      <p:sp>
        <p:nvSpPr>
          <p:cNvPr id="7" name="Chip Completado"/>
          <p:cNvSpPr/>
          <p:nvPr/>
        </p:nvSpPr>
        <p:spPr>
          <a:xfrm>
            <a:off x="3108960" y="160020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08960" y="16002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9842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Servicios backend</a:t>
            </a:r>
            <a:endParaRPr lang="en-US" sz="1400" dirty="0"/>
          </a:p>
        </p:txBody>
      </p:sp>
      <p:sp>
        <p:nvSpPr>
          <p:cNvPr id="10" name="Chip En curso"/>
          <p:cNvSpPr/>
          <p:nvPr/>
        </p:nvSpPr>
        <p:spPr>
          <a:xfrm>
            <a:off x="3108960" y="2020824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08960" y="202082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4048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Interfaz de reporte QR</a:t>
            </a:r>
            <a:endParaRPr lang="en-US" sz="1400" dirty="0"/>
          </a:p>
        </p:txBody>
      </p:sp>
      <p:sp>
        <p:nvSpPr>
          <p:cNvPr id="13" name="Chip En curso"/>
          <p:cNvSpPr/>
          <p:nvPr/>
        </p:nvSpPr>
        <p:spPr>
          <a:xfrm>
            <a:off x="3108960" y="2441448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08960" y="24414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82549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Módulo de visión</a:t>
            </a:r>
            <a:endParaRPr lang="en-US" sz="1400" dirty="0"/>
          </a:p>
        </p:txBody>
      </p:sp>
      <p:sp>
        <p:nvSpPr>
          <p:cNvPr id="16" name="Chip En curso"/>
          <p:cNvSpPr/>
          <p:nvPr/>
        </p:nvSpPr>
        <p:spPr>
          <a:xfrm>
            <a:off x="3108960" y="2862072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08960" y="28620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2461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Panel analítico y TCO</a:t>
            </a:r>
            <a:endParaRPr lang="en-US" sz="1400" dirty="0"/>
          </a:p>
        </p:txBody>
      </p:sp>
      <p:sp>
        <p:nvSpPr>
          <p:cNvPr id="19" name="Chip En curso"/>
          <p:cNvSpPr/>
          <p:nvPr/>
        </p:nvSpPr>
        <p:spPr>
          <a:xfrm>
            <a:off x="3108960" y="3282696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08960" y="328269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66674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Integración y despliegue</a:t>
            </a:r>
            <a:endParaRPr lang="en-US" sz="1400" dirty="0"/>
          </a:p>
        </p:txBody>
      </p:sp>
      <p:sp>
        <p:nvSpPr>
          <p:cNvPr id="22" name="Chip En curso"/>
          <p:cNvSpPr/>
          <p:nvPr/>
        </p:nvSpPr>
        <p:spPr>
          <a:xfrm>
            <a:off x="3108960" y="370332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108960" y="37033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0873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Pruebas de calidad</a:t>
            </a:r>
            <a:endParaRPr lang="en-US" sz="1400" dirty="0"/>
          </a:p>
        </p:txBody>
      </p:sp>
      <p:sp>
        <p:nvSpPr>
          <p:cNvPr id="25" name="Chip En curso (parcial)"/>
          <p:cNvSpPr/>
          <p:nvPr/>
        </p:nvSpPr>
        <p:spPr>
          <a:xfrm>
            <a:off x="3108960" y="4123944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108960" y="412394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 (parcial)</a:t>
            </a:r>
            <a:endParaRPr lang="en-US" sz="1100" dirty="0"/>
          </a:p>
        </p:txBody>
      </p:sp>
      <p:sp>
        <p:nvSpPr>
          <p:cNvPr id="27" name="Panel ajustes"/>
          <p:cNvSpPr/>
          <p:nvPr/>
        </p:nvSpPr>
        <p:spPr>
          <a:xfrm>
            <a:off x="4937760" y="1143000"/>
            <a:ext cx="374904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6636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Ajustes realizados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5166360" y="1691640"/>
            <a:ext cx="3337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validada con video grabado: no se pueden instalar cámaras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sintético de 2 años y 8 meses para probar el dashboard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sumó endurecimiento: PIN, límite de tasa y rostros difuminados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actividad eliminada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sigue: Fase 3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15 a 18 · certificación y presentación final</a:t>
            </a:r>
            <a:endParaRPr lang="en-US" sz="1600" dirty="0"/>
          </a:p>
        </p:txBody>
      </p:sp>
      <p:sp>
        <p:nvSpPr>
          <p:cNvPr id="4" name="Tarjeta Calidad bajo norma ISO"/>
          <p:cNvSpPr/>
          <p:nvPr/>
        </p:nvSpPr>
        <p:spPr>
          <a:xfrm>
            <a:off x="548640" y="1691640"/>
            <a:ext cx="2560320" cy="233172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423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bajo norma ISO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8892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pruebas, casos y matriz de trazabilidad; pruebas de carga con datos sintéticos</a:t>
            </a:r>
            <a:endParaRPr lang="en-US" sz="1300" dirty="0"/>
          </a:p>
        </p:txBody>
      </p:sp>
      <p:sp>
        <p:nvSpPr>
          <p:cNvPr id="8" name="Tarjeta Integración y despliegue"/>
          <p:cNvSpPr/>
          <p:nvPr/>
        </p:nvSpPr>
        <p:spPr>
          <a:xfrm>
            <a:off x="3291840" y="1691640"/>
            <a:ext cx="2560320" cy="233172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8745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520440" y="2423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y despliegue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3520440" y="278892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extremo a extremo con Docker Compose y manuales de usuario</a:t>
            </a:r>
            <a:endParaRPr lang="en-US" sz="1300" dirty="0"/>
          </a:p>
        </p:txBody>
      </p:sp>
      <p:sp>
        <p:nvSpPr>
          <p:cNvPr id="12" name="Tarjeta Validación de la visión"/>
          <p:cNvSpPr/>
          <p:nvPr/>
        </p:nvSpPr>
        <p:spPr>
          <a:xfrm>
            <a:off x="6035040" y="1691640"/>
            <a:ext cx="2560320" cy="233172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87452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63640" y="2423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la visión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263640" y="278892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horas medidas con un conteo manual y ajustar los tiempos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principal: sin gimnasio real, los datos y la visión se validan en simulación.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ymKeep Duoc">
  <a:themeElements>
    <a:clrScheme name="GymKeep Duoc">
      <a:dk1>
        <a:srgbClr val="1B2A41"/>
      </a:dk1>
      <a:lt1>
        <a:srgbClr val="FFFFFF"/>
      </a:lt1>
      <a:dk2>
        <a:srgbClr val="1F3864"/>
      </a:dk2>
      <a:lt2>
        <a:srgbClr val="EEF2F8"/>
      </a:lt2>
      <a:accent1>
        <a:srgbClr val="1F3864"/>
      </a:accent1>
      <a:accent2>
        <a:srgbClr val="F2A900"/>
      </a:accent2>
      <a:accent3>
        <a:srgbClr val="5B7DB1"/>
      </a:accent3>
      <a:accent4>
        <a:srgbClr val="2E7D5B"/>
      </a:accent4>
      <a:accent5>
        <a:srgbClr val="8A94A6"/>
      </a:accent5>
      <a:accent6>
        <a:srgbClr val="C0392B"/>
      </a:accent6>
      <a:hlink>
        <a:srgbClr val="1F3864"/>
      </a:hlink>
      <a:folHlink>
        <a:srgbClr val="5B7DB1"/>
      </a:folHlink>
    </a:clrScheme>
    <a:fontScheme name="GymKeep Duo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GymKeep — Avance Fase 2</dc:title>
  <dc:subject>PptxGenJS Presentation</dc:subject>
  <dc:creator>Equipo GymKeep</dc:creator>
  <cp:lastModifiedBy>Equipo GymKeep</cp:lastModifiedBy>
  <cp:revision>1</cp:revision>
  <dcterms:created xsi:type="dcterms:W3CDTF">2026-10-19T11:50:37Z</dcterms:created>
  <dcterms:modified xsi:type="dcterms:W3CDTF">2026-10-19T11:50:37Z</dcterms:modified>
</cp:coreProperties>
</file>